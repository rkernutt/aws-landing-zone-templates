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{{CUSTOMER_SHORT}}  |  Cloud Centre of Excellence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265615" y="731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{{PARTNER_NAME}}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B3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in Confidence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991295" y="65653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{{DOC_VERSION}}  |  {{DOC_DATE}}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0"/>
            <a:ext cx="12191695" cy="54864"/>
          </a:xfrm>
          <a:prstGeom prst="rect">
            <a:avLst/>
          </a:prstGeom>
          <a:solidFill>
            <a:srgbClr val="44C0E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49240"/>
            <a:ext cx="384048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Centre of Excellence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Viable Product — Approach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42062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{{CUSTOMER_NAME}}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{{PARTNER_NAME}}</a:t>
            </a:r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{{DOC_AUTHOR}}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{{DOC_VERSION}}    |    {{DOC_DATE}}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Cloud Centre of Excellence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adoption changes how technology, people and process work together. A CCoE is the operating-model construct that lets {{CUSTOMER_SHORT}} consume AWS safely, consistently and cost-effectively.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5128" y="265176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5128" y="2651760"/>
            <a:ext cx="3657600" cy="16459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609448" y="30175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09448" y="361188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Standards, financial controls, risk &amp; compliance, architectural guardrails.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67048" y="265176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67048" y="2651760"/>
            <a:ext cx="3657600" cy="16459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4541368" y="30175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41368" y="361188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automation, reference patterns and shared services that accelerate teams.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98968" y="265176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98968" y="2651760"/>
            <a:ext cx="3657600" cy="16459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4" name="Text 12"/>
          <p:cNvSpPr/>
          <p:nvPr/>
        </p:nvSpPr>
        <p:spPr>
          <a:xfrm>
            <a:off x="8473288" y="30175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473288" y="361188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tooling, monitoring, controls and evidence aligned to {{REGULATORY_BODIES}}.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CCoE Capability Map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capabilities required to operate cloud at scale. The MVP focuses on the highlighted core capabilities; others mature through subsequent phases.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85420" y="2103120"/>
            <a:ext cx="1600200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431140" y="216712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5420" y="2606040"/>
            <a:ext cx="1600200" cy="4251960"/>
          </a:xfrm>
          <a:prstGeom prst="rect">
            <a:avLst/>
          </a:prstGeom>
          <a:solidFill>
            <a:srgbClr val="F5F8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6860" y="2743200"/>
            <a:ext cx="1417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5148" y="2743200"/>
            <a:ext cx="1380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/ FinOps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6860" y="3154680"/>
            <a:ext cx="1417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148" y="3154680"/>
            <a:ext cx="1380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6860" y="3566160"/>
            <a:ext cx="1417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148" y="3566160"/>
            <a:ext cx="1380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patterns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6860" y="3977640"/>
            <a:ext cx="1417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148" y="3977640"/>
            <a:ext cx="1380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Compliance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022196" y="2103120"/>
            <a:ext cx="1600200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6" name="Text 14"/>
          <p:cNvSpPr/>
          <p:nvPr/>
        </p:nvSpPr>
        <p:spPr>
          <a:xfrm>
            <a:off x="2067916" y="216712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022196" y="2606040"/>
            <a:ext cx="1600200" cy="4251960"/>
          </a:xfrm>
          <a:prstGeom prst="rect">
            <a:avLst/>
          </a:prstGeom>
          <a:solidFill>
            <a:srgbClr val="F5F8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13636" y="2743200"/>
            <a:ext cx="1417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31924" y="2743200"/>
            <a:ext cx="1380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fulfilment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13636" y="3154680"/>
            <a:ext cx="1417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31924" y="3154680"/>
            <a:ext cx="1380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management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13636" y="3566160"/>
            <a:ext cx="1417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31924" y="3566160"/>
            <a:ext cx="1380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13636" y="3977640"/>
            <a:ext cx="1417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31924" y="3977640"/>
            <a:ext cx="1380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113636" y="4389120"/>
            <a:ext cx="1417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31924" y="4389120"/>
            <a:ext cx="1380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management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8972" y="2103120"/>
            <a:ext cx="1600200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9" name="Text 27"/>
          <p:cNvSpPr/>
          <p:nvPr/>
        </p:nvSpPr>
        <p:spPr>
          <a:xfrm>
            <a:off x="3704692" y="216712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658972" y="2606040"/>
            <a:ext cx="1600200" cy="4251960"/>
          </a:xfrm>
          <a:prstGeom prst="rect">
            <a:avLst/>
          </a:prstGeom>
          <a:solidFill>
            <a:srgbClr val="F5F8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50412" y="2743200"/>
            <a:ext cx="1417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68700" y="2743200"/>
            <a:ext cx="1380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750412" y="3154680"/>
            <a:ext cx="1417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68700" y="3154680"/>
            <a:ext cx="1380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(AFT)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750412" y="3566160"/>
            <a:ext cx="1417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68700" y="3566160"/>
            <a:ext cx="1380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750412" y="3977640"/>
            <a:ext cx="1417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68700" y="3977640"/>
            <a:ext cx="1380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750412" y="4389120"/>
            <a:ext cx="1417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68700" y="4389120"/>
            <a:ext cx="1380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295748" y="2103120"/>
            <a:ext cx="1600200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2" name="Text 40"/>
          <p:cNvSpPr/>
          <p:nvPr/>
        </p:nvSpPr>
        <p:spPr>
          <a:xfrm>
            <a:off x="5341468" y="216712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295748" y="2606040"/>
            <a:ext cx="1600200" cy="4251960"/>
          </a:xfrm>
          <a:prstGeom prst="rect">
            <a:avLst/>
          </a:prstGeom>
          <a:solidFill>
            <a:srgbClr val="F5F8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87188" y="2743200"/>
            <a:ext cx="1417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05476" y="2743200"/>
            <a:ext cx="1380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roadmap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387188" y="3154680"/>
            <a:ext cx="1417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05476" y="3154680"/>
            <a:ext cx="1380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approach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387188" y="3566160"/>
            <a:ext cx="1417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05476" y="3566160"/>
            <a:ext cx="1380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management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387188" y="3977640"/>
            <a:ext cx="1417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05476" y="3977640"/>
            <a:ext cx="1380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932524" y="2103120"/>
            <a:ext cx="1600200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53" name="Text 51"/>
          <p:cNvSpPr/>
          <p:nvPr/>
        </p:nvSpPr>
        <p:spPr>
          <a:xfrm>
            <a:off x="6978244" y="216712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6932524" y="2606040"/>
            <a:ext cx="1600200" cy="4251960"/>
          </a:xfrm>
          <a:prstGeom prst="rect">
            <a:avLst/>
          </a:prstGeom>
          <a:solidFill>
            <a:srgbClr val="F5F8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023964" y="2743200"/>
            <a:ext cx="1417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42252" y="2743200"/>
            <a:ext cx="1380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management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023964" y="3154680"/>
            <a:ext cx="1417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42252" y="3154680"/>
            <a:ext cx="1380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security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023964" y="3566160"/>
            <a:ext cx="1417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42252" y="3566160"/>
            <a:ext cx="1380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management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023964" y="3977640"/>
            <a:ext cx="1417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042252" y="3977640"/>
            <a:ext cx="1380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logging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8569300" y="2103120"/>
            <a:ext cx="1600200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64" name="Text 62"/>
          <p:cNvSpPr/>
          <p:nvPr/>
        </p:nvSpPr>
        <p:spPr>
          <a:xfrm>
            <a:off x="8615020" y="216712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8569300" y="2606040"/>
            <a:ext cx="1600200" cy="4251960"/>
          </a:xfrm>
          <a:prstGeom prst="rect">
            <a:avLst/>
          </a:prstGeom>
          <a:solidFill>
            <a:srgbClr val="F5F8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660740" y="2743200"/>
            <a:ext cx="1417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679028" y="2743200"/>
            <a:ext cx="1380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&amp; capability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8660740" y="3154680"/>
            <a:ext cx="1417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679028" y="3154680"/>
            <a:ext cx="1380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RACI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8660740" y="3566160"/>
            <a:ext cx="1417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679028" y="3566160"/>
            <a:ext cx="1380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8660740" y="3977640"/>
            <a:ext cx="1417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679028" y="3977640"/>
            <a:ext cx="1380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Enablement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10206076" y="2103120"/>
            <a:ext cx="1600200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75" name="Text 73"/>
          <p:cNvSpPr/>
          <p:nvPr/>
        </p:nvSpPr>
        <p:spPr>
          <a:xfrm>
            <a:off x="10251796" y="216712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10206076" y="2606040"/>
            <a:ext cx="1600200" cy="4251960"/>
          </a:xfrm>
          <a:prstGeom prst="rect">
            <a:avLst/>
          </a:prstGeom>
          <a:solidFill>
            <a:srgbClr val="F5F8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297516" y="2743200"/>
            <a:ext cx="1417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315804" y="2743200"/>
            <a:ext cx="1380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/ GitOps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10297516" y="3154680"/>
            <a:ext cx="1417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315804" y="3154680"/>
            <a:ext cx="1380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10297516" y="3566160"/>
            <a:ext cx="1417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0315804" y="3566160"/>
            <a:ext cx="1380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management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10297516" y="3977640"/>
            <a:ext cx="1417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315804" y="3977640"/>
            <a:ext cx="1380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Hackathons &amp; MVPs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Focus Areas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minimum capabilities to operate cloud safely from day one — these are the focus of this engagement.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80848" y="2103120"/>
            <a:ext cx="36576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0848" y="2103120"/>
            <a:ext cx="109728" cy="17830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3398368" y="22402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5168" y="2240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Strategy &amp; Roadmap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5168" y="27889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principles, business outcomes, target operating model and 12-month roadmap.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67048" y="2103120"/>
            <a:ext cx="36576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67048" y="2103120"/>
            <a:ext cx="109728" cy="17830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7284568" y="22402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41368" y="2240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Finance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41368" y="27889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Tagging, budgets, anomaly detection, cost transparency, approval workflows.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53248" y="2103120"/>
            <a:ext cx="36576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53248" y="2103120"/>
            <a:ext cx="109728" cy="17830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6" name="Text 14"/>
          <p:cNvSpPr/>
          <p:nvPr/>
        </p:nvSpPr>
        <p:spPr>
          <a:xfrm>
            <a:off x="11170768" y="22402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27568" y="2240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Foundation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27568" y="27889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Identity Center, Security Hub, GuardDuty, Config, logging — aligned to {{COMPLIANCE_FRAMEWORKS}}.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80848" y="4114800"/>
            <a:ext cx="36576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0848" y="4114800"/>
            <a:ext cx="109728" cy="17830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1" name="Text 19"/>
          <p:cNvSpPr/>
          <p:nvPr/>
        </p:nvSpPr>
        <p:spPr>
          <a:xfrm>
            <a:off x="3398368" y="42519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5168" y="4251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Automation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5168" y="48006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vending (Control Tower / AFT), Terraform modules, golden patterns.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67048" y="4114800"/>
            <a:ext cx="36576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67048" y="4114800"/>
            <a:ext cx="109728" cy="17830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6" name="Text 24"/>
          <p:cNvSpPr/>
          <p:nvPr/>
        </p:nvSpPr>
        <p:spPr>
          <a:xfrm>
            <a:off x="7284568" y="42519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41368" y="4251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ITSM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541368" y="48006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{{TICKETING_PRODUCT}}, on-call, incident response, observability via {{SIEM_PRODUCT}}.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53248" y="4114800"/>
            <a:ext cx="36576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53248" y="4114800"/>
            <a:ext cx="109728" cy="17830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1" name="Text 29"/>
          <p:cNvSpPr/>
          <p:nvPr/>
        </p:nvSpPr>
        <p:spPr>
          <a:xfrm>
            <a:off x="11170768" y="42519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427568" y="4251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&amp; Enablement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427568" y="48006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matrix, training plan, certifications, RACI and ways of working.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· Assess · Recommend — delivered through partnership.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 flipH="1">
            <a:off x="4084168" y="3794760"/>
            <a:ext cx="274320" cy="274320"/>
          </a:xfrm>
          <a:prstGeom prst="rightTriangle">
            <a:avLst/>
          </a:prstGeom>
          <a:solidFill>
            <a:srgbClr val="2E75B6"/>
          </a:solidFill>
          <a:ln/>
        </p:spPr>
      </p:sp>
      <p:sp>
        <p:nvSpPr>
          <p:cNvPr id="5" name="Shape 3"/>
          <p:cNvSpPr/>
          <p:nvPr/>
        </p:nvSpPr>
        <p:spPr>
          <a:xfrm>
            <a:off x="4084168" y="3895344"/>
            <a:ext cx="274320" cy="7315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Shape 4"/>
          <p:cNvSpPr/>
          <p:nvPr/>
        </p:nvSpPr>
        <p:spPr>
          <a:xfrm>
            <a:off x="655168" y="2103120"/>
            <a:ext cx="3383280" cy="36576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0928" y="237744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44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1020928" y="34747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020928" y="4069080"/>
            <a:ext cx="731520" cy="45720"/>
          </a:xfrm>
          <a:prstGeom prst="rect">
            <a:avLst/>
          </a:prstGeom>
          <a:solidFill>
            <a:srgbClr val="44C0E0"/>
          </a:solidFill>
          <a:ln/>
        </p:spPr>
      </p:sp>
      <p:sp>
        <p:nvSpPr>
          <p:cNvPr id="10" name="Text 8"/>
          <p:cNvSpPr/>
          <p:nvPr/>
        </p:nvSpPr>
        <p:spPr>
          <a:xfrm>
            <a:off x="1020928" y="420624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Workshops &amp; interviews to understand current operating model, cloud strategy and business drivers.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 flipH="1">
            <a:off x="7833208" y="3794760"/>
            <a:ext cx="274320" cy="274320"/>
          </a:xfrm>
          <a:prstGeom prst="rightTriangle">
            <a:avLst/>
          </a:prstGeom>
          <a:solidFill>
            <a:srgbClr val="2E75B6"/>
          </a:solidFill>
          <a:ln/>
        </p:spPr>
      </p:sp>
      <p:sp>
        <p:nvSpPr>
          <p:cNvPr id="12" name="Shape 10"/>
          <p:cNvSpPr/>
          <p:nvPr/>
        </p:nvSpPr>
        <p:spPr>
          <a:xfrm>
            <a:off x="7833208" y="3895344"/>
            <a:ext cx="274320" cy="7315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3" name="Shape 11"/>
          <p:cNvSpPr/>
          <p:nvPr/>
        </p:nvSpPr>
        <p:spPr>
          <a:xfrm>
            <a:off x="4404208" y="2103120"/>
            <a:ext cx="3383280" cy="36576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69968" y="237744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44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15" name="Text 13"/>
          <p:cNvSpPr/>
          <p:nvPr/>
        </p:nvSpPr>
        <p:spPr>
          <a:xfrm>
            <a:off x="4769968" y="34747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4769968" y="4069080"/>
            <a:ext cx="731520" cy="45720"/>
          </a:xfrm>
          <a:prstGeom prst="rect">
            <a:avLst/>
          </a:prstGeom>
          <a:solidFill>
            <a:srgbClr val="44C0E0"/>
          </a:solidFill>
          <a:ln/>
        </p:spPr>
      </p:sp>
      <p:sp>
        <p:nvSpPr>
          <p:cNvPr id="17" name="Text 15"/>
          <p:cNvSpPr/>
          <p:nvPr/>
        </p:nvSpPr>
        <p:spPr>
          <a:xfrm>
            <a:off x="4769968" y="420624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 across people, process and technology. Map current to target CCoE capabilities.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53248" y="2103120"/>
            <a:ext cx="3383280" cy="36576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19008" y="237744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44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20" name="Text 18"/>
          <p:cNvSpPr/>
          <p:nvPr/>
        </p:nvSpPr>
        <p:spPr>
          <a:xfrm>
            <a:off x="8519008" y="34747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8519008" y="4069080"/>
            <a:ext cx="731520" cy="45720"/>
          </a:xfrm>
          <a:prstGeom prst="rect">
            <a:avLst/>
          </a:prstGeom>
          <a:solidFill>
            <a:srgbClr val="44C0E0"/>
          </a:solidFill>
          <a:ln/>
        </p:spPr>
      </p:sp>
      <p:sp>
        <p:nvSpPr>
          <p:cNvPr id="22" name="Text 20"/>
          <p:cNvSpPr/>
          <p:nvPr/>
        </p:nvSpPr>
        <p:spPr>
          <a:xfrm>
            <a:off x="8519008" y="420624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operating model, roadmap, prioritised actions, tooling and skills recommendations.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produced and outcomes secured by the end of the engagement.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303520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762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Discovery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5303520" cy="3703320"/>
          </a:xfrm>
          <a:prstGeom prst="rect">
            <a:avLst/>
          </a:prstGeom>
          <a:solidFill>
            <a:srgbClr val="F5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889504"/>
            <a:ext cx="201168" cy="20116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8712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2834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/ remote advisory sessions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0120" y="3392424"/>
            <a:ext cx="201168" cy="20116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37413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3375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Current-state operating model captured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60120" y="3895344"/>
            <a:ext cx="201168" cy="20116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87705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38404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Target-state requirements gathered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60120" y="4398264"/>
            <a:ext cx="201168" cy="20116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3799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43434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log, risks &amp; dependencies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60120" y="4901184"/>
            <a:ext cx="201168" cy="20116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88289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0160" y="48463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change impact assessment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48095" y="2103120"/>
            <a:ext cx="5303520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3" name="Text 21"/>
          <p:cNvSpPr/>
          <p:nvPr/>
        </p:nvSpPr>
        <p:spPr>
          <a:xfrm>
            <a:off x="6522415" y="21762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Recommendations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248095" y="2606040"/>
            <a:ext cx="5303520" cy="3703320"/>
          </a:xfrm>
          <a:prstGeom prst="rect">
            <a:avLst/>
          </a:prstGeom>
          <a:solidFill>
            <a:srgbClr val="F5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68135" y="2889504"/>
            <a:ext cx="201168" cy="20116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6" name="Text 24"/>
          <p:cNvSpPr/>
          <p:nvPr/>
        </p:nvSpPr>
        <p:spPr>
          <a:xfrm>
            <a:off x="6568135" y="28712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88175" y="2834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568135" y="3392424"/>
            <a:ext cx="201168" cy="20116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9" name="Text 27"/>
          <p:cNvSpPr/>
          <p:nvPr/>
        </p:nvSpPr>
        <p:spPr>
          <a:xfrm>
            <a:off x="6568135" y="337413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88175" y="33375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/ to-be model and gap analysis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568135" y="3895344"/>
            <a:ext cx="201168" cy="20116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2" name="Text 30"/>
          <p:cNvSpPr/>
          <p:nvPr/>
        </p:nvSpPr>
        <p:spPr>
          <a:xfrm>
            <a:off x="6568135" y="387705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88175" y="38404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with phased delivery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568135" y="4398264"/>
            <a:ext cx="201168" cy="20116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5" name="Text 33"/>
          <p:cNvSpPr/>
          <p:nvPr/>
        </p:nvSpPr>
        <p:spPr>
          <a:xfrm>
            <a:off x="6568135" y="43799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88175" y="43434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rationale and tech choices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568135" y="4901184"/>
            <a:ext cx="201168" cy="20116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8" name="Text 36"/>
          <p:cNvSpPr/>
          <p:nvPr/>
        </p:nvSpPr>
        <p:spPr>
          <a:xfrm>
            <a:off x="6568135" y="488289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88175" y="48463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costs, licensing, risks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568135" y="5404104"/>
            <a:ext cx="201168" cy="20116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41" name="Text 39"/>
          <p:cNvSpPr/>
          <p:nvPr/>
        </p:nvSpPr>
        <p:spPr>
          <a:xfrm>
            <a:off x="6568135" y="53858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888175" y="5349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operating model and RACI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Timeline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Approximately {{ENGAGEMENT_DURATION}} end-to-end, with review and sign-off cycles built in.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3291840"/>
            <a:ext cx="10362895" cy="7315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3172968"/>
            <a:ext cx="310896" cy="310896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3264408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2103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0" y="2514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22387" y="3172968"/>
            <a:ext cx="310896" cy="310896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0" name="Shape 8"/>
          <p:cNvSpPr/>
          <p:nvPr/>
        </p:nvSpPr>
        <p:spPr>
          <a:xfrm>
            <a:off x="2913827" y="3264408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2072579" y="3703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workshops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72579" y="4114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1-3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94966" y="3172968"/>
            <a:ext cx="310896" cy="310896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4" name="Shape 12"/>
          <p:cNvSpPr/>
          <p:nvPr/>
        </p:nvSpPr>
        <p:spPr>
          <a:xfrm>
            <a:off x="4986406" y="3264408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145158" y="2103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target operating model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45158" y="2514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67545" y="3172968"/>
            <a:ext cx="310896" cy="310896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8" name="Shape 16"/>
          <p:cNvSpPr/>
          <p:nvPr/>
        </p:nvSpPr>
        <p:spPr>
          <a:xfrm>
            <a:off x="7058985" y="3264408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737" y="3703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 review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737" y="4114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5-6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40124" y="3172968"/>
            <a:ext cx="310896" cy="310896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2" name="Shape 20"/>
          <p:cNvSpPr/>
          <p:nvPr/>
        </p:nvSpPr>
        <p:spPr>
          <a:xfrm>
            <a:off x="9131564" y="3264408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8290316" y="2103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&amp; roadmap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90316" y="2514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7-8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1112703" y="3172968"/>
            <a:ext cx="310896" cy="310896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6" name="Shape 24"/>
          <p:cNvSpPr/>
          <p:nvPr/>
        </p:nvSpPr>
        <p:spPr>
          <a:xfrm>
            <a:off x="11204143" y="3264408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10362895" y="3703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362895" y="4114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Investment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{{PARTNER_NAME}} team allocated to this engagement and the indicative commercial summary.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943600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7627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Team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5943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517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Technologist / Lead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06240" y="26517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× FTE — Phase 1+2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5943600" cy="548640"/>
          </a:xfrm>
          <a:prstGeom prst="rect">
            <a:avLst/>
          </a:prstGeom>
          <a:solidFill>
            <a:srgbClr val="F5F8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2461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Architect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06240" y="32461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× FTE — Phase 1+2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5943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8404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06240" y="38404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× FTE — Phase 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434840"/>
            <a:ext cx="5943600" cy="548640"/>
          </a:xfrm>
          <a:prstGeom prst="rect">
            <a:avLst/>
          </a:prstGeom>
          <a:solidFill>
            <a:srgbClr val="F5F8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4348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Specialist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06240" y="44348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 × FTE — Phase 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5029200"/>
            <a:ext cx="5943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0292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Manager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06240" y="50292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 × FTE — Phase 1+2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0" y="2103120"/>
            <a:ext cx="4693615" cy="40233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0" y="2286000"/>
            <a:ext cx="41449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Investment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132320" y="2743200"/>
            <a:ext cx="914400" cy="45720"/>
          </a:xfrm>
          <a:prstGeom prst="rect">
            <a:avLst/>
          </a:prstGeom>
          <a:solidFill>
            <a:srgbClr val="44C0E0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0" y="3017520"/>
            <a:ext cx="4144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Discovery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32320" y="3291840"/>
            <a:ext cx="41449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{{PHASE_1_FEE}} {{CURRENCY}}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132320" y="3931920"/>
            <a:ext cx="4144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Recommendations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32320" y="4206240"/>
            <a:ext cx="41449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{{PHASE_2_FEE}} {{CURRENCY}}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7132320" y="4846320"/>
            <a:ext cx="4144975" cy="2743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0" y="4983480"/>
            <a:ext cx="4144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(ex. VAT)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132320" y="5303520"/>
            <a:ext cx="4144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4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{{TOTAL_FEE}} {{CURRENCY}}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0"/>
            <a:ext cx="12191695" cy="54864"/>
          </a:xfrm>
          <a:prstGeom prst="rect">
            <a:avLst/>
          </a:prstGeom>
          <a:solidFill>
            <a:srgbClr val="44C0E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49240"/>
            <a:ext cx="384048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look forward to partnering with {{CUSTOMER_SHORT}} on the cloud journey.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45720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{{DOC_AUTHOR}}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{{PARTNER_NAME}}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{{PARTNER_NAME}}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CCoE MVP — Approach</dc:title>
  <dc:subject>Cloud Centre of Excellence MVP Pitch Deck Template</dc:subject>
  <dc:creator>{{PARTNER_NAME}}</dc:creator>
  <cp:lastModifiedBy>{{PARTNER_NAME}}</cp:lastModifiedBy>
  <cp:revision>1</cp:revision>
  <dcterms:created xsi:type="dcterms:W3CDTF">2026-05-28T08:13:38Z</dcterms:created>
  <dcterms:modified xsi:type="dcterms:W3CDTF">2026-05-28T08:13:38Z</dcterms:modified>
</cp:coreProperties>
</file>